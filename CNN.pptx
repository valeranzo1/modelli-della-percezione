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66" r:id="rId5"/>
    <p:sldId id="312" r:id="rId6"/>
    <p:sldId id="308" r:id="rId7"/>
    <p:sldId id="313" r:id="rId8"/>
    <p:sldId id="309" r:id="rId9"/>
    <p:sldId id="314" r:id="rId10"/>
    <p:sldId id="310" r:id="rId11"/>
    <p:sldId id="311" r:id="rId12"/>
    <p:sldId id="316" r:id="rId13"/>
    <p:sldId id="317" r:id="rId14"/>
    <p:sldId id="318" r:id="rId15"/>
    <p:sldId id="322" r:id="rId16"/>
    <p:sldId id="323" r:id="rId17"/>
    <p:sldId id="315" r:id="rId18"/>
    <p:sldId id="319" r:id="rId19"/>
    <p:sldId id="320" r:id="rId20"/>
    <p:sldId id="321" r:id="rId2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5" autoAdjust="0"/>
    <p:restoredTop sz="94619" autoAdjust="0"/>
  </p:normalViewPr>
  <p:slideViewPr>
    <p:cSldViewPr snapToGrid="0">
      <p:cViewPr varScale="1">
        <p:scale>
          <a:sx n="46" d="100"/>
          <a:sy n="46" d="100"/>
        </p:scale>
        <p:origin x="6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28983-AEAC-475A-AF0F-6098F9DD4FA7}" type="datetimeFigureOut">
              <a:rPr lang="it-IT" smtClean="0"/>
              <a:t>25/02/2025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AAE49-99BB-49D5-9665-98F7638EF95A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031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2C7A2-FA36-45B8-A6F3-BBA639851B22}" type="datetimeFigureOut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2E2AB-FF03-44FC-B8BE-1EA7DD83A799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6554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265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935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F6D6-005D-11B9-D477-8F7CE79D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5E3079-527A-4C1A-A5CE-5C277413E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847FC52-42D4-D257-53A1-94B8029CA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57302E-B116-9DAD-2620-1310F28C8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44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280B37-DE10-454A-BD75-2C2E90E99AC3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655DA1-D41C-4280-A48B-837BB9DB8FB4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 rtl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5403D4-50E2-4247-A951-C96EE08E2C98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0667D1-04D2-454B-B5A0-D80C43E010FB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632A53-F44C-4A55-BCCC-5E2644F84319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25802E-23B0-47CD-9114-DFBEB8794EC5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15ADE1-9CD6-4796-8334-EEA021B724A3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649004C-3628-4A40-BBEA-9B499F202013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pPr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63A403EB-2C89-46CF-8BF5-B3DB9091A609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C44BA004-748A-40DA-9EB8-A5118411F65D}" type="datetime1">
              <a:rPr lang="it-IT" noProof="0" smtClean="0"/>
              <a:t>25/02/2025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aggle.com/datasets/navoneel/brain-mri-images-for-brain-tumor-detection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ttangolo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3982" y="-164397"/>
            <a:ext cx="6282266" cy="3494789"/>
          </a:xfrm>
        </p:spPr>
        <p:txBody>
          <a:bodyPr rtlCol="0">
            <a:normAutofit/>
          </a:bodyPr>
          <a:lstStyle/>
          <a:p>
            <a:pPr algn="ctr"/>
            <a:r>
              <a:rPr lang="it-IT" noProof="0" dirty="0"/>
              <a:t>Reti Neurali </a:t>
            </a:r>
            <a:r>
              <a:rPr lang="it-IT" noProof="0" dirty="0" err="1"/>
              <a:t>Convoluzionali</a:t>
            </a:r>
            <a:endParaRPr lang="it-IT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0352" y="4716585"/>
            <a:ext cx="4829101" cy="1238616"/>
          </a:xfrm>
        </p:spPr>
        <p:txBody>
          <a:bodyPr rtlCol="0">
            <a:normAutofit/>
          </a:bodyPr>
          <a:lstStyle/>
          <a:p>
            <a:pPr algn="ctr" rtl="0"/>
            <a:r>
              <a:rPr lang="it-IT" noProof="0" dirty="0"/>
              <a:t>Virginia bignami </a:t>
            </a:r>
          </a:p>
          <a:p>
            <a:pPr algn="ctr" rtl="0"/>
            <a:r>
              <a:rPr lang="it-IT" noProof="0" dirty="0"/>
              <a:t>Valentina ranzoni 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simbolo, Carattere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ECE55C50-D060-10A3-B72C-CC61AC60D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24" y="246531"/>
            <a:ext cx="6096439" cy="604140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3E15FC-DAC4-8A58-D8FB-74BDB6EACA32}"/>
              </a:ext>
            </a:extLst>
          </p:cNvPr>
          <p:cNvSpPr txBox="1"/>
          <p:nvPr/>
        </p:nvSpPr>
        <p:spPr>
          <a:xfrm>
            <a:off x="5964188" y="3334416"/>
            <a:ext cx="617463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>
                <a:latin typeface="+mj-lt"/>
              </a:rPr>
              <a:t>e applicazione medica per il</a:t>
            </a:r>
            <a:endParaRPr lang="it-IT" sz="2800" noProof="0" dirty="0">
              <a:latin typeface="+mj-lt"/>
            </a:endParaRPr>
          </a:p>
          <a:p>
            <a:pPr algn="ctr"/>
            <a:r>
              <a:rPr lang="it-IT" sz="2800" b="1" noProof="0" dirty="0">
                <a:latin typeface="+mj-lt"/>
              </a:rPr>
              <a:t> riconoscimento di tumori cerebrali</a:t>
            </a:r>
            <a:endParaRPr lang="it-IT" sz="28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5522C-22E1-608B-BE47-3C0DFB2D9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noProof="0" dirty="0"/>
              <a:t>Panoramica degli argomenti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C92B1C-6C13-ABE0-1F41-C412D2168FE2}"/>
              </a:ext>
            </a:extLst>
          </p:cNvPr>
          <p:cNvSpPr txBox="1"/>
          <p:nvPr/>
        </p:nvSpPr>
        <p:spPr>
          <a:xfrm>
            <a:off x="6096000" y="2363491"/>
            <a:ext cx="498528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400" noProof="0" dirty="0"/>
              <a:t>Architetture </a:t>
            </a:r>
            <a:r>
              <a:rPr lang="it-IT" sz="2400" noProof="0" dirty="0" err="1"/>
              <a:t>pre</a:t>
            </a:r>
            <a:r>
              <a:rPr lang="it-IT" sz="2400" noProof="0" dirty="0"/>
              <a:t>-addestrate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Sfide e considerazioni etiche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Conclusioni e prospettive future</a:t>
            </a:r>
          </a:p>
          <a:p>
            <a:endParaRPr lang="it-IT" sz="2400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0F928B-A787-A6AD-EA54-5E0BD2976A8B}"/>
              </a:ext>
            </a:extLst>
          </p:cNvPr>
          <p:cNvSpPr txBox="1"/>
          <p:nvPr/>
        </p:nvSpPr>
        <p:spPr>
          <a:xfrm>
            <a:off x="1097796" y="2363490"/>
            <a:ext cx="498528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400" noProof="0" dirty="0"/>
              <a:t>Introduzione alle CNN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Architettura delle CNN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Applicazione in ambito medico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Implementazione di una CNN per il riconoscimento di tumori cerebrali</a:t>
            </a:r>
          </a:p>
        </p:txBody>
      </p:sp>
      <p:pic>
        <p:nvPicPr>
          <p:cNvPr id="6" name="Immagine 5" descr="Immagine che contiene mappa, diagramma, visualizzazion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E4087BB-B31B-B102-D509-72D03FCE5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373" r="10499" b="-2665"/>
          <a:stretch/>
        </p:blipFill>
        <p:spPr>
          <a:xfrm>
            <a:off x="8762749" y="-2056"/>
            <a:ext cx="3447141" cy="175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>
            <a:normAutofit/>
          </a:bodyPr>
          <a:lstStyle/>
          <a:p>
            <a:r>
              <a:rPr lang="it-IT" noProof="0" dirty="0"/>
              <a:t>Introduzione alle CNN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6931F6-A6A8-545D-149C-BC3AA4259D79}"/>
              </a:ext>
            </a:extLst>
          </p:cNvPr>
          <p:cNvSpPr txBox="1"/>
          <p:nvPr/>
        </p:nvSpPr>
        <p:spPr>
          <a:xfrm>
            <a:off x="1097586" y="2129904"/>
            <a:ext cx="85679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noProof="0" dirty="0">
                <a:latin typeface="Speak Pro"/>
              </a:rPr>
              <a:t>Definizione di Rete Neurale </a:t>
            </a:r>
            <a:r>
              <a:rPr lang="it-IT" sz="2800" noProof="0" dirty="0" err="1">
                <a:latin typeface="Speak Pro"/>
              </a:rPr>
              <a:t>Convoluzionale</a:t>
            </a:r>
            <a:endParaRPr lang="it-IT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3C0B6E2-0A67-5056-41F8-5522E07E3601}"/>
              </a:ext>
            </a:extLst>
          </p:cNvPr>
          <p:cNvSpPr txBox="1"/>
          <p:nvPr/>
        </p:nvSpPr>
        <p:spPr>
          <a:xfrm>
            <a:off x="6924842" y="2834105"/>
            <a:ext cx="415757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noProof="0" dirty="0"/>
              <a:t>- corteccia visiva primaria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Ogni neurone si connette a un gruppo di neuroni dello strato precedente</a:t>
            </a:r>
          </a:p>
          <a:p>
            <a:pPr marL="285750" indent="-285750">
              <a:buFontTx/>
              <a:buChar char="-"/>
            </a:pPr>
            <a:endParaRPr lang="it-IT" noProof="0" dirty="0"/>
          </a:p>
          <a:p>
            <a:r>
              <a:rPr lang="it-IT" noProof="0" dirty="0"/>
              <a:t>Diverse applicazioni delle CNN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Riconoscimento di immagini e video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Elaborazione del linguaggio naturale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bioinformatica</a:t>
            </a:r>
          </a:p>
          <a:p>
            <a:pPr marL="285750" indent="-285750">
              <a:buFontTx/>
              <a:buChar char="-"/>
            </a:pPr>
            <a:endParaRPr lang="it-IT" noProof="0" dirty="0"/>
          </a:p>
        </p:txBody>
      </p:sp>
      <p:pic>
        <p:nvPicPr>
          <p:cNvPr id="14" name="Segnaposto contenuto 13" descr="Immagine che contiene schermata, diagramma, line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2D56B24-D2A2-F581-2EFE-9AAB0F478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76039" y="2804744"/>
            <a:ext cx="5053853" cy="3017744"/>
          </a:xfrm>
        </p:spPr>
      </p:pic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FBF02-7FEA-041D-2136-98E2A373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36C1D-3086-44BF-AEEA-7D98111E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>
            <a:normAutofit/>
          </a:bodyPr>
          <a:lstStyle/>
          <a:p>
            <a:r>
              <a:rPr lang="it-IT" noProof="0" dirty="0"/>
              <a:t>Introduzione alle CNN</a:t>
            </a:r>
          </a:p>
        </p:txBody>
      </p:sp>
      <p:pic>
        <p:nvPicPr>
          <p:cNvPr id="9" name="Immagine 8" descr="Immagine che contiene vestiti, persona, uom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367C0AF3-AA08-A8CF-3A88-1175715CA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951" y="2492993"/>
            <a:ext cx="4219281" cy="2375513"/>
          </a:xfrm>
          <a:prstGeom prst="rect">
            <a:avLst/>
          </a:prstGeom>
        </p:spPr>
      </p:pic>
      <p:pic>
        <p:nvPicPr>
          <p:cNvPr id="6" name="Segnaposto contenuto 6" descr="Immagine che contiene schizzo, diagramma, disegno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09E97B21-B446-632A-3E6A-AF94BED7B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446" y="2548256"/>
            <a:ext cx="3932228" cy="226422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A49AF2-CF43-09E5-FF15-E3E8A2ABF6C5}"/>
              </a:ext>
            </a:extLst>
          </p:cNvPr>
          <p:cNvSpPr txBox="1"/>
          <p:nvPr/>
        </p:nvSpPr>
        <p:spPr>
          <a:xfrm>
            <a:off x="1630554" y="5066631"/>
            <a:ext cx="39230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noProof="0" dirty="0" err="1"/>
              <a:t>Neocognitron</a:t>
            </a:r>
            <a:endParaRPr lang="it-IT" b="1" noProof="0" dirty="0"/>
          </a:p>
          <a:p>
            <a:r>
              <a:rPr lang="it-IT" noProof="0" dirty="0" err="1"/>
              <a:t>Kunihiko</a:t>
            </a:r>
            <a:r>
              <a:rPr lang="it-IT" noProof="0" dirty="0"/>
              <a:t> Fukushima, 1979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9BF90A2-6357-78EC-E8A2-090C0B23AE1D}"/>
              </a:ext>
            </a:extLst>
          </p:cNvPr>
          <p:cNvSpPr txBox="1"/>
          <p:nvPr/>
        </p:nvSpPr>
        <p:spPr>
          <a:xfrm>
            <a:off x="6946185" y="5067982"/>
            <a:ext cx="34676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noProof="0" dirty="0" err="1"/>
              <a:t>Hubel</a:t>
            </a:r>
            <a:r>
              <a:rPr lang="it-IT" b="1" noProof="0" dirty="0"/>
              <a:t> </a:t>
            </a:r>
            <a:r>
              <a:rPr lang="it-IT" noProof="0" dirty="0"/>
              <a:t>e </a:t>
            </a:r>
            <a:r>
              <a:rPr lang="it-IT" b="1" noProof="0" dirty="0"/>
              <a:t>Wiesel</a:t>
            </a:r>
          </a:p>
          <a:p>
            <a:r>
              <a:rPr lang="it-IT" noProof="0" dirty="0"/>
              <a:t>Premio Nobel del 1981</a:t>
            </a:r>
          </a:p>
        </p:txBody>
      </p:sp>
    </p:spTree>
    <p:extLst>
      <p:ext uri="{BB962C8B-B14F-4D97-AF65-F5344CB8AC3E}">
        <p14:creationId xmlns:p14="http://schemas.microsoft.com/office/powerpoint/2010/main" val="232320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D9C64C-48B4-673F-8F08-D41A0C6D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noProof="0" dirty="0"/>
              <a:t>Architettura delle CNN </a:t>
            </a:r>
          </a:p>
        </p:txBody>
      </p:sp>
      <p:pic>
        <p:nvPicPr>
          <p:cNvPr id="3" name="Immagine 2" descr="Immagine che contiene schizzo, diagramma, disegno, Pian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FEAC3DC-79D3-22D6-CDF6-C7D538A4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1" y="2594386"/>
            <a:ext cx="8875058" cy="301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A2A0-F719-41EB-393A-862BEA3E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izzo, diagramma, disegno, Pian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58ACE44-E10E-1B8F-95D7-864CE96E9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736" y="-5379"/>
            <a:ext cx="6757147" cy="229675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64B692-BE10-2036-CF0E-45563D10B1EE}"/>
              </a:ext>
            </a:extLst>
          </p:cNvPr>
          <p:cNvSpPr txBox="1"/>
          <p:nvPr/>
        </p:nvSpPr>
        <p:spPr>
          <a:xfrm>
            <a:off x="1093628" y="2705489"/>
            <a:ext cx="558962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b="1" noProof="0" dirty="0"/>
              <a:t>Input Layer</a:t>
            </a:r>
          </a:p>
          <a:p>
            <a:pPr lvl="1"/>
            <a:r>
              <a:rPr lang="it-IT" noProof="0" dirty="0"/>
              <a:t>(128, 128, 3)</a:t>
            </a:r>
          </a:p>
          <a:p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Convolutional</a:t>
            </a:r>
            <a:r>
              <a:rPr lang="it-IT" b="1" noProof="0" dirty="0"/>
              <a:t> </a:t>
            </a:r>
            <a:r>
              <a:rPr lang="it-IT" b="1" noProof="0" dirty="0" err="1"/>
              <a:t>Layers</a:t>
            </a:r>
            <a:endParaRPr lang="it-IT" b="1" noProof="0" dirty="0"/>
          </a:p>
          <a:p>
            <a:pPr marL="742950" lvl="1" indent="-285750">
              <a:buFont typeface="Courier New"/>
              <a:buChar char="o"/>
            </a:pPr>
            <a:r>
              <a:rPr lang="it-IT" b="1" noProof="0" dirty="0"/>
              <a:t>Convoluzione</a:t>
            </a:r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numero di filtri, </a:t>
            </a:r>
            <a:r>
              <a:rPr lang="it-IT" noProof="0" dirty="0" err="1"/>
              <a:t>kernel_size</a:t>
            </a:r>
            <a:r>
              <a:rPr lang="it-IT" noProof="0" dirty="0"/>
              <a:t>, stride, </a:t>
            </a:r>
            <a:r>
              <a:rPr lang="it-IT" noProof="0" dirty="0" err="1"/>
              <a:t>padding</a:t>
            </a:r>
            <a:endParaRPr lang="it-IT" noProof="0" dirty="0"/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Funzione di attivazione</a:t>
            </a:r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ReLU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Tanh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Sigmoid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Softmax</a:t>
            </a:r>
            <a:endParaRPr lang="it-IT" noProof="0" dirty="0"/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959198-AA4E-BE49-636B-4A2A9D3B8C8D}"/>
              </a:ext>
            </a:extLst>
          </p:cNvPr>
          <p:cNvSpPr txBox="1"/>
          <p:nvPr/>
        </p:nvSpPr>
        <p:spPr>
          <a:xfrm>
            <a:off x="6674157" y="2705489"/>
            <a:ext cx="558962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b="1" noProof="0" dirty="0"/>
              <a:t>Pooling Layer</a:t>
            </a:r>
          </a:p>
          <a:p>
            <a:pPr marL="742950" lvl="1" indent="-285750">
              <a:buFont typeface="Courier New"/>
              <a:buChar char="o"/>
            </a:pPr>
            <a:r>
              <a:rPr lang="it-IT" b="1" noProof="0" dirty="0" err="1"/>
              <a:t>MaxPooling</a:t>
            </a:r>
            <a:r>
              <a:rPr lang="it-IT" b="1" noProof="0" dirty="0"/>
              <a:t>, </a:t>
            </a:r>
            <a:r>
              <a:rPr lang="it-IT" b="1" noProof="0" dirty="0" err="1"/>
              <a:t>AveragePooling</a:t>
            </a:r>
            <a:endParaRPr lang="it-IT" b="1" noProof="0" dirty="0"/>
          </a:p>
          <a:p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Flatten</a:t>
            </a:r>
            <a:r>
              <a:rPr lang="it-IT" b="1" noProof="0" dirty="0"/>
              <a:t> Layer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Fully-Connected</a:t>
            </a:r>
            <a:r>
              <a:rPr lang="it-IT" b="1" noProof="0" dirty="0"/>
              <a:t> Layer (Dense Layer)</a:t>
            </a:r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Funzione di attivazione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/>
              <a:t>Output Layer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</p:txBody>
      </p:sp>
    </p:spTree>
    <p:extLst>
      <p:ext uri="{BB962C8B-B14F-4D97-AF65-F5344CB8AC3E}">
        <p14:creationId xmlns:p14="http://schemas.microsoft.com/office/powerpoint/2010/main" val="333931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2F0D6C-9927-E358-0D0F-0FB6BD49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69606" cy="142834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sz="3600" noProof="0" dirty="0"/>
              <a:t>Applicazione in ambito medico:</a:t>
            </a:r>
            <a:br>
              <a:rPr lang="it-IT" sz="3600" noProof="0" dirty="0"/>
            </a:br>
            <a:r>
              <a:rPr lang="it-IT" sz="3600" noProof="0" dirty="0"/>
              <a:t>perché utilizzare le CNN per il riconoscimento di tumori?</a:t>
            </a:r>
          </a:p>
        </p:txBody>
      </p:sp>
      <p:pic>
        <p:nvPicPr>
          <p:cNvPr id="5" name="Immagine 4" descr="Immagine che contiene persona, vestiti, Attrezzature mediche, Lavoro&#10;&#10;Il contenuto generato dall'IA potrebbe non essere corretto.">
            <a:extLst>
              <a:ext uri="{FF2B5EF4-FFF2-40B4-BE49-F238E27FC236}">
                <a16:creationId xmlns:a16="http://schemas.microsoft.com/office/drawing/2014/main" id="{286746CC-3327-2DC1-A312-89EB637D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46485"/>
            <a:ext cx="4639736" cy="3097023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EA72DA7-DE74-8162-489E-F0846703D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4986" y="1795314"/>
            <a:ext cx="5059680" cy="3748194"/>
          </a:xfrm>
        </p:spPr>
        <p:txBody>
          <a:bodyPr/>
          <a:lstStyle/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dirty="0"/>
              <a:t> - </a:t>
            </a:r>
            <a:r>
              <a:rPr lang="it-IT" noProof="0" dirty="0"/>
              <a:t> elevata capacità d’apprendimento  	automatico </a:t>
            </a:r>
          </a:p>
          <a:p>
            <a:r>
              <a:rPr lang="it-IT" dirty="0"/>
              <a:t>- è possibile estrarre automaticamente le caratteristiche rilevanti delle immagini </a:t>
            </a:r>
          </a:p>
          <a:p>
            <a:r>
              <a:rPr lang="it-IT" noProof="0" dirty="0"/>
              <a:t>- la struttura gerarchica </a:t>
            </a:r>
          </a:p>
          <a:p>
            <a:r>
              <a:rPr lang="it-IT" dirty="0"/>
              <a:t>- ridurre gli errori di diagnosi 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0517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0418AE-EABF-86A7-D501-502D51B3C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76D04B-AEE5-7860-5C7B-75D306FEB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2956" y="2120900"/>
            <a:ext cx="9716000" cy="509693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r>
              <a:rPr lang="it-IT" b="1" noProof="0" dirty="0"/>
              <a:t>Dataset </a:t>
            </a:r>
            <a:r>
              <a:rPr lang="it-IT" noProof="0" dirty="0"/>
              <a:t>: </a:t>
            </a:r>
            <a:r>
              <a:rPr lang="it-IT" noProof="0" dirty="0">
                <a:ea typeface="+mn-lt"/>
                <a:cs typeface="+mn-lt"/>
                <a:hlinkClick r:id="rId2"/>
              </a:rPr>
              <a:t>https://www.kaggle.com/datasets/navoneel/brain-mri-images-for-brain-tumor-detection</a:t>
            </a:r>
            <a:endParaRPr lang="it-IT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D4D576-BE1E-1360-FCDD-F9ECFB0F70CD}"/>
              </a:ext>
            </a:extLst>
          </p:cNvPr>
          <p:cNvSpPr txBox="1"/>
          <p:nvPr/>
        </p:nvSpPr>
        <p:spPr>
          <a:xfrm>
            <a:off x="4347882" y="2633381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 err="1"/>
              <a:t>Pre</a:t>
            </a:r>
            <a:r>
              <a:rPr lang="it-IT" sz="2800" b="1" noProof="0" dirty="0"/>
              <a:t>-processing</a:t>
            </a:r>
            <a:endParaRPr lang="it-IT" noProof="0" dirty="0"/>
          </a:p>
        </p:txBody>
      </p:sp>
      <p:pic>
        <p:nvPicPr>
          <p:cNvPr id="8" name="Immagine 7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0908DF6-887A-C22E-5179-2002D232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76" y="3165236"/>
            <a:ext cx="9289676" cy="275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1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AFF7-6A49-D76E-3CED-EA32CA11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15CC6-140D-1A4E-2AF8-512E750B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27CE17-1938-96F6-A18A-0440C1F22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2956" y="1941606"/>
            <a:ext cx="9716000" cy="50969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it-IT" sz="1600" noProof="0" dirty="0"/>
              <a:t> Suddivisione del dataset in </a:t>
            </a:r>
            <a:r>
              <a:rPr lang="it-IT" sz="1600" b="1" noProof="0" dirty="0" err="1"/>
              <a:t>train</a:t>
            </a:r>
            <a:r>
              <a:rPr lang="it-IT" sz="1600" b="1" noProof="0" dirty="0"/>
              <a:t> </a:t>
            </a:r>
            <a:r>
              <a:rPr lang="it-IT" sz="1600" noProof="0" dirty="0"/>
              <a:t>(80%) e </a:t>
            </a:r>
            <a:r>
              <a:rPr lang="it-IT" sz="1600" b="1" noProof="0" dirty="0"/>
              <a:t>test </a:t>
            </a:r>
            <a:r>
              <a:rPr lang="it-IT" sz="1600" noProof="0" dirty="0"/>
              <a:t>(20%)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597352B-43E0-E056-5D25-C5C028062B19}"/>
              </a:ext>
            </a:extLst>
          </p:cNvPr>
          <p:cNvSpPr txBox="1"/>
          <p:nvPr/>
        </p:nvSpPr>
        <p:spPr>
          <a:xfrm>
            <a:off x="3810000" y="2274793"/>
            <a:ext cx="4571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Costruzione del modello</a:t>
            </a:r>
            <a:endParaRPr lang="it-IT" noProof="0" dirty="0"/>
          </a:p>
        </p:txBody>
      </p:sp>
      <p:pic>
        <p:nvPicPr>
          <p:cNvPr id="4" name="Immagine 3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9486073-4248-BABC-DB82-DAA60735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28" y="2725194"/>
            <a:ext cx="6656293" cy="36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D8AF-879C-AA3E-D08F-3C88D42E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EF4E67-2A86-F1DA-1CE6-0BBD213A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3F7564-5598-2C6D-A8E5-ABE740C619D4}"/>
              </a:ext>
            </a:extLst>
          </p:cNvPr>
          <p:cNvSpPr txBox="1"/>
          <p:nvPr/>
        </p:nvSpPr>
        <p:spPr>
          <a:xfrm>
            <a:off x="4168588" y="2129117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Compiliamo il modello</a:t>
            </a:r>
            <a:endParaRPr lang="it-IT" noProof="0" dirty="0"/>
          </a:p>
        </p:txBody>
      </p:sp>
      <p:pic>
        <p:nvPicPr>
          <p:cNvPr id="7" name="Immagine 6" descr="Immagine che contiene testo, Carattere, schermat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525B529-37B4-3743-E977-26B6E718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30" y="2660277"/>
            <a:ext cx="4396067" cy="8763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591456-21EE-2A76-9BA0-ED46AB068D50}"/>
              </a:ext>
            </a:extLst>
          </p:cNvPr>
          <p:cNvSpPr txBox="1"/>
          <p:nvPr/>
        </p:nvSpPr>
        <p:spPr>
          <a:xfrm>
            <a:off x="1221440" y="3641912"/>
            <a:ext cx="96146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1400" b="1" noProof="0" dirty="0" err="1"/>
              <a:t>categorical_crossentropy</a:t>
            </a:r>
            <a:r>
              <a:rPr lang="it-IT" sz="1400" noProof="0" dirty="0"/>
              <a:t> : </a:t>
            </a:r>
            <a:r>
              <a:rPr lang="it-IT" sz="1400" noProof="0" dirty="0">
                <a:latin typeface="Speak Pro"/>
              </a:rPr>
              <a:t>minimizzare la differenza fra due distribuzioni di probabilità</a:t>
            </a:r>
            <a:endParaRPr lang="it-IT" sz="1400" noProof="0" dirty="0"/>
          </a:p>
          <a:p>
            <a:pPr algn="ctr"/>
            <a:r>
              <a:rPr lang="it-IT" sz="1400" b="1" noProof="0" dirty="0">
                <a:latin typeface="Speak Pro"/>
              </a:rPr>
              <a:t>Adam</a:t>
            </a:r>
            <a:r>
              <a:rPr lang="it-IT" sz="1400" noProof="0" dirty="0">
                <a:latin typeface="Speak Pro"/>
              </a:rPr>
              <a:t> : regola automaticamente il </a:t>
            </a:r>
            <a:r>
              <a:rPr lang="it-IT" sz="1400" b="1" noProof="0" dirty="0">
                <a:ea typeface="+mn-lt"/>
                <a:cs typeface="+mn-lt"/>
              </a:rPr>
              <a:t>learning rate</a:t>
            </a:r>
            <a:r>
              <a:rPr lang="it-IT" sz="1400" noProof="0" dirty="0">
                <a:latin typeface="Speak Pro"/>
              </a:rPr>
              <a:t> durante l’addestramento</a:t>
            </a:r>
          </a:p>
        </p:txBody>
      </p:sp>
      <p:pic>
        <p:nvPicPr>
          <p:cNvPr id="10" name="Immagine 9" descr="Immagine che contiene testo, Carattere, schermat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3908A41-CF4D-17D3-7462-6EC1E797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78" y="4522975"/>
            <a:ext cx="3302373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5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98B1-5FA1-B992-D86F-42428128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C0C43-8D03-2A31-3C94-3E57B7DC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EFB079-59F8-4FB5-F244-A19637D6649D}"/>
              </a:ext>
            </a:extLst>
          </p:cNvPr>
          <p:cNvSpPr txBox="1"/>
          <p:nvPr/>
        </p:nvSpPr>
        <p:spPr>
          <a:xfrm>
            <a:off x="4168588" y="2364441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Addestramento</a:t>
            </a:r>
            <a:endParaRPr lang="it-IT" noProof="0" dirty="0"/>
          </a:p>
        </p:txBody>
      </p:sp>
      <p:pic>
        <p:nvPicPr>
          <p:cNvPr id="4" name="Immagine 3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09C862E-CBF5-F2B1-FD12-0D8B0538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82" y="3031472"/>
            <a:ext cx="4870636" cy="16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2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09515-3955-908F-1FCB-44DC9565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kern="1200" spc="-50" baseline="0" dirty="0">
                <a:latin typeface="+mj-lt"/>
                <a:ea typeface="+mj-ea"/>
                <a:cs typeface="+mj-cs"/>
              </a:rPr>
              <a:t>Risultati ottenuti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8D91C7-3594-2BDE-6324-D3C531846C62}"/>
              </a:ext>
            </a:extLst>
          </p:cNvPr>
          <p:cNvSpPr txBox="1"/>
          <p:nvPr/>
        </p:nvSpPr>
        <p:spPr>
          <a:xfrm>
            <a:off x="1097280" y="2120900"/>
            <a:ext cx="4639736" cy="374819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Inizialmente il modello ha una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molto alta che passa da 32.46 a 8.70 in 30 epoche, per cui impara progressivamente i pattern nei dati </a:t>
            </a:r>
          </a:p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val_loss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non diminuisce in modo significativo rispetto alla training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Nelle ultime epoche:</a:t>
            </a:r>
          </a:p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Il modello mostra un’evidente riduzione della training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indicando un buon apprendimento ma dalla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validation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vediamo non diminuisce di molto segnalando un principio di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overfitting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11" name="Immagine 10" descr="Immagine che contiene testo, schermata, menu, Carattere&#10;&#10;Il contenuto generato dall'IA potrebbe non essere corretto.">
            <a:extLst>
              <a:ext uri="{FF2B5EF4-FFF2-40B4-BE49-F238E27FC236}">
                <a16:creationId xmlns:a16="http://schemas.microsoft.com/office/drawing/2014/main" id="{36AF6111-78A6-4E22-3983-1FCACAF9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2929"/>
            <a:ext cx="4937760" cy="3579876"/>
          </a:xfrm>
          <a:prstGeom prst="rect">
            <a:avLst/>
          </a:prstGeom>
          <a:noFill/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3DBF211-370D-626C-E581-C2B13FF0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55956"/>
            <a:ext cx="5349704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25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566BA8-AF9A-215C-1371-435CFF00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Tracciare le perdite del modello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1EB410-B9E7-0C51-2E0B-7958FABAB1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Il grafico mostra l’andamento della funzione di perdita per il</a:t>
            </a:r>
          </a:p>
          <a:p>
            <a:r>
              <a:rPr lang="it-IT" dirty="0"/>
              <a:t>- training set (linea blu) </a:t>
            </a:r>
          </a:p>
          <a:p>
            <a:r>
              <a:rPr lang="it-IT" dirty="0"/>
              <a:t>- </a:t>
            </a:r>
            <a:r>
              <a:rPr lang="it-IT" dirty="0" err="1"/>
              <a:t>validation</a:t>
            </a:r>
            <a:r>
              <a:rPr lang="it-IT" dirty="0"/>
              <a:t> set (linea gialla) </a:t>
            </a:r>
          </a:p>
          <a:p>
            <a:r>
              <a:rPr lang="it-IT" dirty="0"/>
              <a:t>Come già detto la </a:t>
            </a:r>
            <a:r>
              <a:rPr lang="it-IT" dirty="0" err="1"/>
              <a:t>loss</a:t>
            </a:r>
            <a:r>
              <a:rPr lang="it-IT" dirty="0"/>
              <a:t> inizialmente è molto alta indice che il modello sta imparando da 0. </a:t>
            </a:r>
          </a:p>
          <a:p>
            <a:r>
              <a:rPr lang="it-IT" dirty="0"/>
              <a:t>Nelle prime epoche la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loss</a:t>
            </a:r>
            <a:r>
              <a:rPr lang="it-IT" dirty="0"/>
              <a:t> oscilla fortemente, indicando instabilità, ma dopo circa 10 epoche si stabilizza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EE183C7-34A6-F311-DCB9-F2A05E3C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6" y="2120900"/>
            <a:ext cx="5166808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9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729B77-0903-C0DA-663C-CCD0AB7F1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ffectLst/>
              </a:rPr>
              <a:t>Utilizzo di Architetture </a:t>
            </a:r>
            <a:r>
              <a:rPr lang="it-IT" b="1" dirty="0" err="1">
                <a:effectLst/>
              </a:rPr>
              <a:t>Pre</a:t>
            </a:r>
            <a:r>
              <a:rPr lang="it-IT" b="1" dirty="0">
                <a:effectLst/>
              </a:rPr>
              <a:t>-addestrate</a:t>
            </a:r>
            <a:endParaRPr lang="it-IT" noProof="0" dirty="0"/>
          </a:p>
        </p:txBody>
      </p:sp>
      <p:pic>
        <p:nvPicPr>
          <p:cNvPr id="9" name="Segnaposto contenuto 8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1BD79B31-1FC5-F1E4-B9E5-AD6E839A70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4131" y="3124200"/>
            <a:ext cx="7081549" cy="2071386"/>
          </a:xfr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FB8633C9-28C7-378F-879C-54A1A379DF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18A33F3-C0F3-422B-86BA-D603E0BB30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04805CB-0920-3C76-BC29-CDE65BDF87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04160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1" name="Immagine 10" descr="Immagine che contiene schermata, testo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7C89F1B1-4C95-A30D-FDDD-192226025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40433"/>
            <a:ext cx="2541921" cy="391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0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93888-AC00-53F1-8E08-34BC35E9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dirty="0" err="1"/>
              <a:t>Inception</a:t>
            </a:r>
            <a:endParaRPr lang="it-IT" dirty="0"/>
          </a:p>
        </p:txBody>
      </p:sp>
      <p:pic>
        <p:nvPicPr>
          <p:cNvPr id="6" name="Segnaposto contenuto 5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0FD896AD-0461-4F52-0AF8-6DF053FC9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317" y="2108201"/>
            <a:ext cx="7338325" cy="3760891"/>
          </a:xfrm>
          <a:noFill/>
        </p:spPr>
      </p:pic>
    </p:spTree>
    <p:extLst>
      <p:ext uri="{BB962C8B-B14F-4D97-AF65-F5344CB8AC3E}">
        <p14:creationId xmlns:p14="http://schemas.microsoft.com/office/powerpoint/2010/main" val="126777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F41A15-7CFC-B15F-90D5-9369EA8E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it-IT" dirty="0"/>
              <a:t>Sfide e considerazioni etiche </a:t>
            </a:r>
          </a:p>
        </p:txBody>
      </p:sp>
      <p:pic>
        <p:nvPicPr>
          <p:cNvPr id="5" name="Segnaposto contenuto 4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FD0DCDF2-949F-396C-68F4-25A27A254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450" y="812799"/>
            <a:ext cx="4381412" cy="5294757"/>
          </a:xfr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2C421EE-35E1-7A21-9248-812961C0B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Sfide</a:t>
            </a:r>
            <a:r>
              <a:rPr lang="en-US" dirty="0"/>
              <a:t> </a:t>
            </a:r>
            <a:r>
              <a:rPr lang="en-US" dirty="0" err="1"/>
              <a:t>techniche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Qualità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Annotazione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Generalizzazione</a:t>
            </a:r>
            <a:r>
              <a:rPr lang="en-US" dirty="0"/>
              <a:t> e overfitting </a:t>
            </a:r>
          </a:p>
          <a:p>
            <a:r>
              <a:rPr lang="en-US" dirty="0" err="1"/>
              <a:t>Sfide</a:t>
            </a:r>
            <a:r>
              <a:rPr lang="en-US" dirty="0"/>
              <a:t> </a:t>
            </a:r>
            <a:r>
              <a:rPr lang="en-US" dirty="0" err="1"/>
              <a:t>etiche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it-IT" dirty="0"/>
              <a:t>Responsabilità diagnostica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it-IT" dirty="0"/>
              <a:t>Trasparenza dei modelli</a:t>
            </a:r>
          </a:p>
          <a:p>
            <a:pPr marL="285750" indent="-285750">
              <a:buFontTx/>
              <a:buChar char="-"/>
            </a:pPr>
            <a:r>
              <a:rPr lang="it-IT" dirty="0"/>
              <a:t>Privacy dei dati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4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1C594E-6569-4598-5EB3-0C18576C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it-IT" b="1" dirty="0">
                <a:effectLst/>
              </a:rPr>
              <a:t>Conclusioni e Prospettive Future</a:t>
            </a:r>
            <a:endParaRPr lang="it-IT" dirty="0"/>
          </a:p>
        </p:txBody>
      </p:sp>
      <p:pic>
        <p:nvPicPr>
          <p:cNvPr id="6" name="Segnaposto contenuto 5" descr="Immagine che contiene Attrezzature mediche, medico, assistenza sanitaria, Medico&#10;&#10;Il contenuto generato dall'IA potrebbe non essere corretto.">
            <a:extLst>
              <a:ext uri="{FF2B5EF4-FFF2-40B4-BE49-F238E27FC236}">
                <a16:creationId xmlns:a16="http://schemas.microsoft.com/office/drawing/2014/main" id="{0E419A50-886B-71B0-71AA-DCC020BF2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984" y="1785420"/>
            <a:ext cx="5928344" cy="3349514"/>
          </a:xfrm>
          <a:noFill/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EB770C-80FF-8DEE-BA8B-417E87EC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it-IT" b="1" dirty="0"/>
              <a:t>Sviluppi futuri promettenti: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b="1" dirty="0"/>
              <a:t>Segmentazione automatica dei tumori</a:t>
            </a:r>
          </a:p>
          <a:p>
            <a:pPr marL="285750" indent="-285750">
              <a:buFontTx/>
              <a:buChar char="-"/>
            </a:pPr>
            <a:r>
              <a:rPr lang="it-IT" b="1" dirty="0"/>
              <a:t>Diagnosi predittiva </a:t>
            </a:r>
          </a:p>
          <a:p>
            <a:pPr marL="285750" indent="-285750">
              <a:buFontTx/>
              <a:buChar char="-"/>
            </a:pPr>
            <a:r>
              <a:rPr lang="it-IT" b="1" dirty="0"/>
              <a:t>Integrazione con AI </a:t>
            </a:r>
            <a:r>
              <a:rPr lang="it-IT" dirty="0" err="1"/>
              <a:t>Explainability</a:t>
            </a:r>
            <a:r>
              <a:rPr lang="it-IT" b="1" dirty="0"/>
              <a:t> 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49532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853_TF11437505.potx" id="{B524DF46-424E-4DE0-BA2D-73D96117FE98}" vid="{E8A4C0C3-7F79-4858-9064-A40BB108B31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3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028893-d08c-4cce-8504-afd6b33d92e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B729DA3DB84644848F3B7364B86BF2" ma:contentTypeVersion="14" ma:contentTypeDescription="Creare un nuovo documento." ma:contentTypeScope="" ma:versionID="d94a7782b5c9de5a4b66d2ab3ad178d0">
  <xsd:schema xmlns:xsd="http://www.w3.org/2001/XMLSchema" xmlns:xs="http://www.w3.org/2001/XMLSchema" xmlns:p="http://schemas.microsoft.com/office/2006/metadata/properties" xmlns:ns3="d6028893-d08c-4cce-8504-afd6b33d92ef" xmlns:ns4="1f9104a5-4ac5-44b9-826e-fd83a61efb5e" targetNamespace="http://schemas.microsoft.com/office/2006/metadata/properties" ma:root="true" ma:fieldsID="0de1f005e7c715552020a5117d51db1f" ns3:_="" ns4:_="">
    <xsd:import namespace="d6028893-d08c-4cce-8504-afd6b33d92ef"/>
    <xsd:import namespace="1f9104a5-4ac5-44b9-826e-fd83a61efb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28893-d08c-4cce-8504-afd6b33d9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104a5-4ac5-44b9-826e-fd83a61efb5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1f9104a5-4ac5-44b9-826e-fd83a61efb5e"/>
    <ds:schemaRef ds:uri="http://schemas.openxmlformats.org/package/2006/metadata/core-properties"/>
    <ds:schemaRef ds:uri="http://schemas.microsoft.com/office/2006/documentManagement/types"/>
    <ds:schemaRef ds:uri="d6028893-d08c-4cce-8504-afd6b33d92e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CF88E30-DA03-4A12-8A1E-F9CB651F9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28893-d08c-4cce-8504-afd6b33d92ef"/>
    <ds:schemaRef ds:uri="1f9104a5-4ac5-44b9-826e-fd83a61efb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{C97D5B18-9D3F-4C87-A6FA-E713DB3814B3}tf11437505_win32</Template>
  <TotalTime>277</TotalTime>
  <Words>484</Words>
  <Application>Microsoft Office PowerPoint</Application>
  <PresentationFormat>Widescreen</PresentationFormat>
  <Paragraphs>101</Paragraphs>
  <Slides>17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Calibri</vt:lpstr>
      <vt:lpstr>Courier New</vt:lpstr>
      <vt:lpstr>Georgia Pro Cond Light</vt:lpstr>
      <vt:lpstr>Speak Pro</vt:lpstr>
      <vt:lpstr>Wingdings</vt:lpstr>
      <vt:lpstr>RetrospectVTI</vt:lpstr>
      <vt:lpstr>Reti Neurali Convoluzionali</vt:lpstr>
      <vt:lpstr>Panoramica degli argomenti</vt:lpstr>
      <vt:lpstr>Introduzione alle CNN</vt:lpstr>
      <vt:lpstr>Introduzione alle CNN</vt:lpstr>
      <vt:lpstr>Architettura delle CNN </vt:lpstr>
      <vt:lpstr>Presentazione standard di PowerPoint</vt:lpstr>
      <vt:lpstr>Applicazione in ambito medico: perché utilizzare le CNN per il riconoscimento di tumori?</vt:lpstr>
      <vt:lpstr>Implementazione di una CNN per il riconoscimento di tumori cerebrali</vt:lpstr>
      <vt:lpstr>Implementazione di una CNN per il riconoscimento di tumori cerebrali</vt:lpstr>
      <vt:lpstr>Implementazione di una CNN per il riconoscimento di tumori cerebrali</vt:lpstr>
      <vt:lpstr>Implementazione di una CNN per il riconoscimento di tumori cerebrali</vt:lpstr>
      <vt:lpstr>Risultati ottenuti </vt:lpstr>
      <vt:lpstr>Tracciare le perdite del modello</vt:lpstr>
      <vt:lpstr>Utilizzo di Architetture Pre-addestrate</vt:lpstr>
      <vt:lpstr>Inception</vt:lpstr>
      <vt:lpstr>Sfide e considerazioni etiche </vt:lpstr>
      <vt:lpstr>Conclusioni e Prospettive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Ranzoni</dc:creator>
  <cp:lastModifiedBy>Valentina Ranzoni</cp:lastModifiedBy>
  <cp:revision>317</cp:revision>
  <dcterms:created xsi:type="dcterms:W3CDTF">2025-02-18T12:05:19Z</dcterms:created>
  <dcterms:modified xsi:type="dcterms:W3CDTF">2025-02-25T15:42:20Z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0x0101007EB729DA3DB84644848F3B7364B86BF2</vt:lpwstr>
  </property>
</Properties>
</file>